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8" r:id="rId2"/>
    <p:sldId id="259" r:id="rId3"/>
    <p:sldId id="257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C05D11-81C4-4C84-A7C9-929C15F2CB27}">
  <a:tblStyle styleId="{90C05D11-81C4-4C84-A7C9-929C15F2C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A7FB59DA-44DF-1A68-0000-FC7E41D694AC}"/>
              </a:ext>
            </a:extLst>
          </p:cNvPr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5818E"/>
                </a:solidFill>
                <a:highlight>
                  <a:srgbClr val="FFFFFF"/>
                </a:highlight>
              </a:rPr>
              <a:t>Stakeholder Analysis</a:t>
            </a:r>
            <a:endParaRPr sz="1800" b="1" dirty="0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CE6EEE-DBD0-4380-D6A5-DEBE2F223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89838"/>
              </p:ext>
            </p:extLst>
          </p:nvPr>
        </p:nvGraphicFramePr>
        <p:xfrm>
          <a:off x="245327" y="491841"/>
          <a:ext cx="8800447" cy="4563100"/>
        </p:xfrm>
        <a:graphic>
          <a:graphicData uri="http://schemas.openxmlformats.org/drawingml/2006/table">
            <a:tbl>
              <a:tblPr firstRow="1" bandRow="1">
                <a:tableStyleId>{90C05D11-81C4-4C84-A7C9-929C15F2CB27}</a:tableStyleId>
              </a:tblPr>
              <a:tblGrid>
                <a:gridCol w="1583473">
                  <a:extLst>
                    <a:ext uri="{9D8B030D-6E8A-4147-A177-3AD203B41FA5}">
                      <a16:colId xmlns:a16="http://schemas.microsoft.com/office/drawing/2014/main" val="3880141735"/>
                    </a:ext>
                  </a:extLst>
                </a:gridCol>
                <a:gridCol w="1747024">
                  <a:extLst>
                    <a:ext uri="{9D8B030D-6E8A-4147-A177-3AD203B41FA5}">
                      <a16:colId xmlns:a16="http://schemas.microsoft.com/office/drawing/2014/main" val="3052140194"/>
                    </a:ext>
                  </a:extLst>
                </a:gridCol>
                <a:gridCol w="936703">
                  <a:extLst>
                    <a:ext uri="{9D8B030D-6E8A-4147-A177-3AD203B41FA5}">
                      <a16:colId xmlns:a16="http://schemas.microsoft.com/office/drawing/2014/main" val="2595154798"/>
                    </a:ext>
                  </a:extLst>
                </a:gridCol>
                <a:gridCol w="884663">
                  <a:extLst>
                    <a:ext uri="{9D8B030D-6E8A-4147-A177-3AD203B41FA5}">
                      <a16:colId xmlns:a16="http://schemas.microsoft.com/office/drawing/2014/main" val="4087097126"/>
                    </a:ext>
                  </a:extLst>
                </a:gridCol>
                <a:gridCol w="3648584">
                  <a:extLst>
                    <a:ext uri="{9D8B030D-6E8A-4147-A177-3AD203B41FA5}">
                      <a16:colId xmlns:a16="http://schemas.microsoft.com/office/drawing/2014/main" val="3900143554"/>
                    </a:ext>
                  </a:extLst>
                </a:gridCol>
              </a:tblGrid>
              <a:tr h="4629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sz="12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Role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Power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666666"/>
                          </a:solidFill>
                        </a:rPr>
                        <a:t>Interest (H/M/L)</a:t>
                      </a:r>
                      <a:endParaRPr sz="12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Notes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extLst>
                  <a:ext uri="{0D108BD9-81ED-4DB2-BD59-A6C34878D82A}">
                    <a16:rowId xmlns:a16="http://schemas.microsoft.com/office/drawing/2014/main" val="3530692440"/>
                  </a:ext>
                </a:extLst>
              </a:tr>
              <a:tr h="545284">
                <a:tc>
                  <a:txBody>
                    <a:bodyPr/>
                    <a:lstStyle/>
                    <a:p>
                      <a:pPr lvl="0"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Omar Mubarak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Owner &amp; CEO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Final decision-maker and project sponsor.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479091"/>
                  </a:ext>
                </a:extLst>
              </a:tr>
              <a:tr h="572429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Deanna Coleman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Director of Operations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Project sponsor; oversees operations and supports execution.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extLst>
                  <a:ext uri="{0D108BD9-81ED-4DB2-BD59-A6C34878D82A}">
                    <a16:rowId xmlns:a16="http://schemas.microsoft.com/office/drawing/2014/main" val="2433548709"/>
                  </a:ext>
                </a:extLst>
              </a:tr>
              <a:tr h="371707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Carter 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Executive Chef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Medium 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Key influence for kitchen changes.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extLst>
                  <a:ext uri="{0D108BD9-81ED-4DB2-BD59-A6C34878D82A}">
                    <a16:rowId xmlns:a16="http://schemas.microsoft.com/office/drawing/2014/main" val="3815127854"/>
                  </a:ext>
                </a:extLst>
              </a:tr>
              <a:tr h="5192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Gilly Tyson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General Manager (North)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Medium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Pilot North restaurant GM, provide feedback of the restaurant and training to employee.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extLst>
                  <a:ext uri="{0D108BD9-81ED-4DB2-BD59-A6C34878D82A}">
                    <a16:rowId xmlns:a16="http://schemas.microsoft.com/office/drawing/2014/main" val="403953045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Alex Schmidt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General Manager (Downtown)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Medium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6675" marR="66675" marT="50000" marB="50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Pilot North restaurant GM, provide feedback of the restaurant and training to employee.</a:t>
                      </a:r>
                    </a:p>
                  </a:txBody>
                  <a:tcPr marL="66675" marR="66675" marT="50000" marB="50000"/>
                </a:tc>
                <a:extLst>
                  <a:ext uri="{0D108BD9-81ED-4DB2-BD59-A6C34878D82A}">
                    <a16:rowId xmlns:a16="http://schemas.microsoft.com/office/drawing/2014/main" val="432800699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Nia </a:t>
                      </a:r>
                      <a:r>
                        <a:rPr lang="en-US" dirty="0" err="1"/>
                        <a:t>Willams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 Manager (Waterfront)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Not part of pilot project, but involve in the future project expansion.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627927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Zane Dutchman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Kitchen Manager (North)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Overseas kitchen operations of North pilot restaurant.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42814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Larissa Stein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Kitchen Manager (Downtown)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Runs kitchen operations of Downtown pilot restaurant.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143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06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A7FB59DA-44DF-1A68-0000-FC7E41D694AC}"/>
              </a:ext>
            </a:extLst>
          </p:cNvPr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5818E"/>
                </a:solidFill>
                <a:highlight>
                  <a:srgbClr val="FFFFFF"/>
                </a:highlight>
              </a:rPr>
              <a:t>Stakeholder Analysis</a:t>
            </a:r>
            <a:endParaRPr sz="1800" b="1" dirty="0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CE6EEE-DBD0-4380-D6A5-DEBE2F223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51320"/>
              </p:ext>
            </p:extLst>
          </p:nvPr>
        </p:nvGraphicFramePr>
        <p:xfrm>
          <a:off x="245327" y="491841"/>
          <a:ext cx="8800447" cy="1197280"/>
        </p:xfrm>
        <a:graphic>
          <a:graphicData uri="http://schemas.openxmlformats.org/drawingml/2006/table">
            <a:tbl>
              <a:tblPr firstRow="1" bandRow="1">
                <a:tableStyleId>{90C05D11-81C4-4C84-A7C9-929C15F2CB27}</a:tableStyleId>
              </a:tblPr>
              <a:tblGrid>
                <a:gridCol w="1583473">
                  <a:extLst>
                    <a:ext uri="{9D8B030D-6E8A-4147-A177-3AD203B41FA5}">
                      <a16:colId xmlns:a16="http://schemas.microsoft.com/office/drawing/2014/main" val="3880141735"/>
                    </a:ext>
                  </a:extLst>
                </a:gridCol>
                <a:gridCol w="1747024">
                  <a:extLst>
                    <a:ext uri="{9D8B030D-6E8A-4147-A177-3AD203B41FA5}">
                      <a16:colId xmlns:a16="http://schemas.microsoft.com/office/drawing/2014/main" val="3052140194"/>
                    </a:ext>
                  </a:extLst>
                </a:gridCol>
                <a:gridCol w="936703">
                  <a:extLst>
                    <a:ext uri="{9D8B030D-6E8A-4147-A177-3AD203B41FA5}">
                      <a16:colId xmlns:a16="http://schemas.microsoft.com/office/drawing/2014/main" val="2595154798"/>
                    </a:ext>
                  </a:extLst>
                </a:gridCol>
                <a:gridCol w="884663">
                  <a:extLst>
                    <a:ext uri="{9D8B030D-6E8A-4147-A177-3AD203B41FA5}">
                      <a16:colId xmlns:a16="http://schemas.microsoft.com/office/drawing/2014/main" val="4087097126"/>
                    </a:ext>
                  </a:extLst>
                </a:gridCol>
                <a:gridCol w="3648584">
                  <a:extLst>
                    <a:ext uri="{9D8B030D-6E8A-4147-A177-3AD203B41FA5}">
                      <a16:colId xmlns:a16="http://schemas.microsoft.com/office/drawing/2014/main" val="3900143554"/>
                    </a:ext>
                  </a:extLst>
                </a:gridCol>
              </a:tblGrid>
              <a:tr h="4629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sz="12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Role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Power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666666"/>
                          </a:solidFill>
                        </a:rPr>
                        <a:t>Interest (H/M/L)</a:t>
                      </a:r>
                      <a:endParaRPr sz="12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Notes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/>
                </a:tc>
                <a:extLst>
                  <a:ext uri="{0D108BD9-81ED-4DB2-BD59-A6C34878D82A}">
                    <a16:rowId xmlns:a16="http://schemas.microsoft.com/office/drawing/2014/main" val="3530692440"/>
                  </a:ext>
                </a:extLst>
              </a:tr>
              <a:tr h="545284">
                <a:tc>
                  <a:txBody>
                    <a:bodyPr/>
                    <a:lstStyle/>
                    <a:p>
                      <a:pPr lvl="0" algn="ctr"/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Seydou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 Diallo</a:t>
                      </a:r>
                      <a:endParaRPr lang="en-IN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Restaurant Technology Consultant</a:t>
                      </a:r>
                      <a:endParaRPr lang="en-IN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Medium</a:t>
                      </a:r>
                      <a:endParaRPr lang="en-IN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High</a:t>
                      </a:r>
                      <a:endParaRPr lang="en-IN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Technical experts who are integrate technology with business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479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lt1"/>
                </a:solidFill>
              </a:rPr>
              <a:t>Keep satisfied (high priority)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lt1"/>
                </a:solidFill>
              </a:rPr>
              <a:t>Omar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Manage closely (high effort)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Deanna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Monitor (minimum effort)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Nia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Zane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Larissa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66666"/>
                </a:solidFill>
              </a:rPr>
              <a:t>Show consideration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66666"/>
                </a:solidFill>
              </a:rPr>
              <a:t>Carter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66666"/>
                </a:solidFill>
              </a:rPr>
              <a:t>Gilly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66666"/>
                </a:solidFill>
              </a:rPr>
              <a:t>Alex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66666"/>
                </a:solidFill>
              </a:rPr>
              <a:t>Seydou</a:t>
            </a:r>
            <a:endParaRPr b="1" dirty="0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4"/>
          <p:cNvSpPr/>
          <p:nvPr/>
        </p:nvSpPr>
        <p:spPr>
          <a:xfrm>
            <a:off x="341425" y="975725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Omar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Owner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4875" y="80400"/>
            <a:ext cx="1360200" cy="783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Drag each stakeholder’s box to the appropriate place on the power-interest grid</a:t>
            </a:r>
            <a:endParaRPr sz="1300"/>
          </a:p>
        </p:txBody>
      </p:sp>
      <p:sp>
        <p:nvSpPr>
          <p:cNvPr id="76" name="Google Shape;76;p14"/>
          <p:cNvSpPr/>
          <p:nvPr/>
        </p:nvSpPr>
        <p:spPr>
          <a:xfrm>
            <a:off x="341425" y="1432751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Deanna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Director of Operations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341425" y="1889776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Carter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Exec. Chef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41425" y="2346802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Gilly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41425" y="280382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Alex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41425" y="3260853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Zane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41425" y="3717878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Larissa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41425" y="417490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Seydou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Restaurant Consultant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41425" y="4631931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Nia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General Manager - Waterfront</a:t>
            </a:r>
            <a:endParaRPr sz="6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289</Words>
  <Application>Microsoft Office PowerPoint</Application>
  <PresentationFormat>On-screen Show (16:9)</PresentationFormat>
  <Paragraphs>103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SUBHRAJYOTI BERA</cp:lastModifiedBy>
  <cp:revision>5</cp:revision>
  <dcterms:modified xsi:type="dcterms:W3CDTF">2026-07-15T18:59:42Z</dcterms:modified>
</cp:coreProperties>
</file>