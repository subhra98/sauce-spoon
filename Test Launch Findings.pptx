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Satisfaction on Tablet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Tablet Experience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1 - Lacking/ Difficult</c:v>
                </c:pt>
                <c:pt idx="1">
                  <c:v>2 - Mediocre/ Slightly Difficult</c:v>
                </c:pt>
                <c:pt idx="2">
                  <c:v>3 - Neutral</c:v>
                </c:pt>
                <c:pt idx="3">
                  <c:v>4 - Good/ Fairly Easy</c:v>
                </c:pt>
                <c:pt idx="4">
                  <c:v>5 - Great/ Very Easy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10</c:v>
                </c:pt>
                <c:pt idx="2">
                  <c:v>14</c:v>
                </c:pt>
                <c:pt idx="3">
                  <c:v>40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8E-4BCA-8DB0-7A0D4DB75F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Tablet Navigation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1 - Lacking/ Difficult</c:v>
                </c:pt>
                <c:pt idx="1">
                  <c:v>2 - Mediocre/ Slightly Difficult</c:v>
                </c:pt>
                <c:pt idx="2">
                  <c:v>3 - Neutral</c:v>
                </c:pt>
                <c:pt idx="3">
                  <c:v>4 - Good/ Fairly Easy</c:v>
                </c:pt>
                <c:pt idx="4">
                  <c:v>5 - Great/ Very Easy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18</c:v>
                </c:pt>
                <c:pt idx="2">
                  <c:v>30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8E-4BCA-8DB0-7A0D4DB75F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Easy to Order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1 - Lacking/ Difficult</c:v>
                </c:pt>
                <c:pt idx="1">
                  <c:v>2 - Mediocre/ Slightly Difficult</c:v>
                </c:pt>
                <c:pt idx="2">
                  <c:v>3 - Neutral</c:v>
                </c:pt>
                <c:pt idx="3">
                  <c:v>4 - Good/ Fairly Easy</c:v>
                </c:pt>
                <c:pt idx="4">
                  <c:v>5 - Great/ Very Easy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</c:v>
                </c:pt>
                <c:pt idx="1">
                  <c:v>18</c:v>
                </c:pt>
                <c:pt idx="2">
                  <c:v>28</c:v>
                </c:pt>
                <c:pt idx="3">
                  <c:v>24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8E-4BCA-8DB0-7A0D4DB75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7380495"/>
        <c:axId val="27382415"/>
      </c:barChart>
      <c:catAx>
        <c:axId val="273804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82415"/>
        <c:crosses val="autoZero"/>
        <c:auto val="1"/>
        <c:lblAlgn val="ctr"/>
        <c:lblOffset val="100"/>
        <c:noMultiLvlLbl val="0"/>
      </c:catAx>
      <c:valAx>
        <c:axId val="27382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80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be8aa0f6e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be8aa0f6e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be8aa0f6e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be8aa0f6e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e8aa0f6e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e8aa0f6e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be8aa0f6e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be8aa0f6e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5" name="Google Shape;55;p13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0" y="2839025"/>
            <a:ext cx="8520600" cy="14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solidFill>
                  <a:srgbClr val="0C7182"/>
                </a:solidFill>
              </a:rPr>
              <a:t>Sauce &amp; Spoon Tabletop Menu Tablet </a:t>
            </a:r>
            <a:br>
              <a:rPr lang="en-IN" sz="3600" b="1" dirty="0">
                <a:solidFill>
                  <a:srgbClr val="0C7182"/>
                </a:solidFill>
              </a:rPr>
            </a:br>
            <a:r>
              <a:rPr lang="en-IN" sz="3600" b="1" dirty="0">
                <a:solidFill>
                  <a:srgbClr val="0C7182"/>
                </a:solidFill>
              </a:rPr>
              <a:t>Pilot Project </a:t>
            </a:r>
            <a:endParaRPr sz="3600" b="1" dirty="0">
              <a:solidFill>
                <a:srgbClr val="0C718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881" y="332600"/>
            <a:ext cx="2720225" cy="27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8820-F94A-80D2-1CCE-E6D449867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272418"/>
            <a:ext cx="8520600" cy="552062"/>
          </a:xfrm>
        </p:spPr>
        <p:txBody>
          <a:bodyPr/>
          <a:lstStyle/>
          <a:p>
            <a:pPr algn="l"/>
            <a:r>
              <a:rPr lang="en-IN" sz="2800" i="1" dirty="0">
                <a:solidFill>
                  <a:schemeClr val="dk2"/>
                </a:solidFill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0B40F-EB34-B424-2E02-834D3715B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1033346"/>
            <a:ext cx="8520600" cy="3642731"/>
          </a:xfrm>
        </p:spPr>
        <p:txBody>
          <a:bodyPr/>
          <a:lstStyle/>
          <a:p>
            <a:pPr algn="l"/>
            <a:r>
              <a:rPr lang="en-IN" sz="1600" b="1" dirty="0"/>
              <a:t>Objective</a:t>
            </a:r>
          </a:p>
          <a:p>
            <a:pPr algn="l"/>
            <a:r>
              <a:rPr lang="en-IN" sz="1200" dirty="0"/>
              <a:t>	</a:t>
            </a:r>
            <a:r>
              <a:rPr lang="en-IN" sz="1400" dirty="0"/>
              <a:t>Conduct  a pilot test of Sauce &amp; Spoon’s tablet ordering system to evaluate customer experience</a:t>
            </a:r>
          </a:p>
          <a:p>
            <a:pPr algn="l"/>
            <a:r>
              <a:rPr lang="en-IN" sz="1400" dirty="0"/>
              <a:t>before a full rollout.</a:t>
            </a:r>
          </a:p>
          <a:p>
            <a:pPr algn="l"/>
            <a:endParaRPr lang="en-IN" sz="1200" dirty="0"/>
          </a:p>
          <a:p>
            <a:pPr algn="l"/>
            <a:r>
              <a:rPr lang="en-IN" sz="1600" b="1" dirty="0"/>
              <a:t>How the milestone was achieved</a:t>
            </a:r>
          </a:p>
          <a:p>
            <a:pPr marL="114300" indent="0" algn="l"/>
            <a:r>
              <a:rPr lang="en-IN" sz="1200" dirty="0"/>
              <a:t>       </a:t>
            </a:r>
            <a:r>
              <a:rPr lang="en-IN" sz="1400" dirty="0"/>
              <a:t>Conducted a live test with 50 customers.</a:t>
            </a:r>
          </a:p>
          <a:p>
            <a:pPr marL="114300" indent="0" algn="l"/>
            <a:r>
              <a:rPr lang="en-IN" sz="1400" dirty="0"/>
              <a:t>      Customers completed a full dining experience using the tablets.</a:t>
            </a:r>
          </a:p>
          <a:p>
            <a:pPr marL="114300" indent="0" algn="l"/>
            <a:r>
              <a:rPr lang="en-IN" sz="1400" dirty="0"/>
              <a:t>      Digital survey collected feedback after the meal.</a:t>
            </a:r>
          </a:p>
          <a:p>
            <a:pPr marL="114300" indent="0" algn="l"/>
            <a:r>
              <a:rPr lang="en-IN" sz="1400" dirty="0"/>
              <a:t>      Evaluated customer satisfaction, usability, checkout, technical performance and operational efficiency.</a:t>
            </a:r>
          </a:p>
          <a:p>
            <a:pPr marL="114300" indent="0" algn="l"/>
            <a:endParaRPr lang="en-IN" sz="1200" dirty="0"/>
          </a:p>
          <a:p>
            <a:pPr marL="114300" indent="0" algn="l"/>
            <a:r>
              <a:rPr lang="en-IN" sz="1600" b="1" dirty="0"/>
              <a:t>Outcome</a:t>
            </a:r>
          </a:p>
          <a:p>
            <a:pPr marL="114300" indent="0" algn="l"/>
            <a:r>
              <a:rPr lang="en-IN" sz="1400" dirty="0"/>
              <a:t>      The test launch successfully gathered customer feedback and identified strengths and improvement opportunities for the next rollout phase.</a:t>
            </a:r>
          </a:p>
        </p:txBody>
      </p:sp>
    </p:spTree>
    <p:extLst>
      <p:ext uri="{BB962C8B-B14F-4D97-AF65-F5344CB8AC3E}">
        <p14:creationId xmlns:p14="http://schemas.microsoft.com/office/powerpoint/2010/main" val="368072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78750" y="75450"/>
            <a:ext cx="8986500" cy="4992600"/>
          </a:xfrm>
          <a:prstGeom prst="rect">
            <a:avLst/>
          </a:prstGeom>
          <a:noFill/>
          <a:ln w="76200" cap="flat" cmpd="sng">
            <a:solidFill>
              <a:srgbClr val="0C71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311700" y="203250"/>
            <a:ext cx="8520600" cy="6516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 dirty="0"/>
              <a:t>Evaluation Goals</a:t>
            </a:r>
          </a:p>
        </p:txBody>
      </p:sp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35513B56-DC87-209C-20F0-D4262916FDC9}"/>
              </a:ext>
            </a:extLst>
          </p:cNvPr>
          <p:cNvSpPr txBox="1">
            <a:spLocks/>
          </p:cNvSpPr>
          <p:nvPr/>
        </p:nvSpPr>
        <p:spPr>
          <a:xfrm>
            <a:off x="311700" y="982727"/>
            <a:ext cx="8520600" cy="386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400" dirty="0"/>
              <a:t>Assess overall customer satisfaction with the tablet ordering system.</a:t>
            </a:r>
          </a:p>
          <a:p>
            <a:pPr algn="l"/>
            <a:r>
              <a:rPr lang="en-US" sz="1400" dirty="0"/>
              <a:t>Evaluate the ease of navigation, ordering, and payment.</a:t>
            </a:r>
          </a:p>
          <a:p>
            <a:pPr algn="l"/>
            <a:r>
              <a:rPr lang="en-US" sz="1400" dirty="0"/>
              <a:t>Measure the effectiveness of staff guidance and tablet usability.</a:t>
            </a:r>
          </a:p>
          <a:p>
            <a:pPr algn="l"/>
            <a:r>
              <a:rPr lang="en-US" sz="1400" dirty="0"/>
              <a:t>Determine the system's impact on service efficiency, order accuracy, and wait times.</a:t>
            </a:r>
          </a:p>
          <a:p>
            <a:pPr algn="l"/>
            <a:r>
              <a:rPr lang="en-US" sz="1400" dirty="0"/>
              <a:t>Identify customer preferences, technical issues, and opportunities for future improvements.</a:t>
            </a:r>
            <a:endParaRPr lang="en-I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78750" y="75450"/>
            <a:ext cx="8986500" cy="4992600"/>
          </a:xfrm>
          <a:prstGeom prst="rect">
            <a:avLst/>
          </a:prstGeom>
          <a:noFill/>
          <a:ln w="76200" cap="flat" cmpd="sng">
            <a:solidFill>
              <a:srgbClr val="0C71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>
            <a:off x="311700" y="203250"/>
            <a:ext cx="8520600" cy="584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Findings</a:t>
            </a:r>
            <a:endParaRPr i="1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7712300-06D4-032A-95A0-859AF0071A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9744968"/>
              </p:ext>
            </p:extLst>
          </p:nvPr>
        </p:nvGraphicFramePr>
        <p:xfrm>
          <a:off x="382393" y="963930"/>
          <a:ext cx="8352729" cy="2426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76;p16">
            <a:extLst>
              <a:ext uri="{FF2B5EF4-FFF2-40B4-BE49-F238E27FC236}">
                <a16:creationId xmlns:a16="http://schemas.microsoft.com/office/drawing/2014/main" id="{1F02D81F-9BA1-3769-9DD0-5436FDBCFCAF}"/>
              </a:ext>
            </a:extLst>
          </p:cNvPr>
          <p:cNvSpPr txBox="1">
            <a:spLocks/>
          </p:cNvSpPr>
          <p:nvPr/>
        </p:nvSpPr>
        <p:spPr>
          <a:xfrm>
            <a:off x="311700" y="3526556"/>
            <a:ext cx="8520600" cy="98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US" sz="1400" dirty="0"/>
              <a:t>72% of customers rated their overall tablet experience as Good or Great (4 or 5 out of 5).</a:t>
            </a:r>
          </a:p>
          <a:p>
            <a:pPr marL="0" indent="0" algn="l"/>
            <a:r>
              <a:rPr lang="en-US" sz="1400" dirty="0"/>
              <a:t>58% of customers rated the tablet navigation as Fairly Easy or Very Easy (4 or 5 out of 5).</a:t>
            </a:r>
          </a:p>
          <a:p>
            <a:pPr marL="0" indent="0" algn="l"/>
            <a:r>
              <a:rPr lang="en-US" sz="1400" dirty="0"/>
              <a:t>46% of customers found it Fairly Easy or Very Easy to order directly from the tablet (4 or 5 out of 5).</a:t>
            </a: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78750" y="75450"/>
            <a:ext cx="8986500" cy="4992600"/>
          </a:xfrm>
          <a:prstGeom prst="rect">
            <a:avLst/>
          </a:prstGeom>
          <a:noFill/>
          <a:ln w="76200" cap="flat" cmpd="sng">
            <a:solidFill>
              <a:srgbClr val="0C71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311700" y="203250"/>
            <a:ext cx="8520600" cy="681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Next Steps</a:t>
            </a:r>
            <a:endParaRPr i="1" dirty="0"/>
          </a:p>
        </p:txBody>
      </p:sp>
      <p:sp>
        <p:nvSpPr>
          <p:cNvPr id="2" name="Google Shape;82;p17">
            <a:extLst>
              <a:ext uri="{FF2B5EF4-FFF2-40B4-BE49-F238E27FC236}">
                <a16:creationId xmlns:a16="http://schemas.microsoft.com/office/drawing/2014/main" id="{B8B49578-0A54-DCA3-639B-8D81873BBB19}"/>
              </a:ext>
            </a:extLst>
          </p:cNvPr>
          <p:cNvSpPr txBox="1">
            <a:spLocks/>
          </p:cNvSpPr>
          <p:nvPr/>
        </p:nvSpPr>
        <p:spPr>
          <a:xfrm>
            <a:off x="311700" y="884663"/>
            <a:ext cx="8520600" cy="3917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600" b="1" dirty="0"/>
              <a:t>Supporting findings</a:t>
            </a:r>
          </a:p>
          <a:p>
            <a:pPr marL="571500" lvl="1" indent="0" algn="l"/>
            <a:r>
              <a:rPr lang="en-US" sz="1400" b="1" dirty="0"/>
              <a:t>22%</a:t>
            </a:r>
            <a:r>
              <a:rPr lang="en-US" sz="1400" dirty="0"/>
              <a:t> found ordering difficult or slightly difficult. </a:t>
            </a:r>
          </a:p>
          <a:p>
            <a:pPr marL="571500" lvl="1" indent="0" algn="l"/>
            <a:r>
              <a:rPr lang="en-US" sz="1400" b="1" dirty="0"/>
              <a:t>24%</a:t>
            </a:r>
            <a:r>
              <a:rPr lang="en-US" sz="1400" dirty="0"/>
              <a:t> felt waiter instructions were not sufficient. </a:t>
            </a:r>
          </a:p>
          <a:p>
            <a:pPr marL="571500" lvl="1" indent="0" algn="l"/>
            <a:r>
              <a:rPr lang="en-US" sz="1400" dirty="0"/>
              <a:t>Several customers reported tablets freezing or being glitchy. </a:t>
            </a:r>
          </a:p>
          <a:p>
            <a:pPr marL="571500" lvl="1" indent="0" algn="l"/>
            <a:endParaRPr lang="en-US" sz="1400" dirty="0"/>
          </a:p>
          <a:p>
            <a:pPr algn="l"/>
            <a:r>
              <a:rPr lang="en-US" sz="1600" b="1" dirty="0"/>
              <a:t>Recommendation</a:t>
            </a:r>
          </a:p>
          <a:p>
            <a:pPr marL="571500" lvl="1" indent="0" algn="l"/>
            <a:r>
              <a:rPr lang="en-US" sz="1400" dirty="0"/>
              <a:t>Provide clearer waiter demonstrations. </a:t>
            </a:r>
          </a:p>
          <a:p>
            <a:pPr marL="571500" lvl="1" indent="0" algn="l"/>
            <a:r>
              <a:rPr lang="en-US" sz="1400" dirty="0"/>
              <a:t>Add a brief on-screen tutorial. </a:t>
            </a:r>
          </a:p>
          <a:p>
            <a:pPr marL="571500" lvl="1" indent="0" algn="l"/>
            <a:r>
              <a:rPr lang="en-US" sz="1400" dirty="0"/>
              <a:t>Improve tablet software stability before full deployment. </a:t>
            </a:r>
          </a:p>
          <a:p>
            <a:pPr marL="571500" lvl="1" indent="0" algn="l"/>
            <a:endParaRPr lang="en-US" sz="1400" dirty="0"/>
          </a:p>
          <a:p>
            <a:pPr algn="l"/>
            <a:r>
              <a:rPr lang="en-US" sz="1600" b="1" dirty="0"/>
              <a:t>Expected Benefit</a:t>
            </a:r>
            <a:endParaRPr lang="en-US" sz="1600" dirty="0"/>
          </a:p>
          <a:p>
            <a:pPr marL="571500" lvl="1" indent="0" algn="l"/>
            <a:r>
              <a:rPr lang="en-US" sz="1400" dirty="0"/>
              <a:t>Better user confidence </a:t>
            </a:r>
          </a:p>
          <a:p>
            <a:pPr marL="571500" lvl="1" indent="0" algn="l"/>
            <a:r>
              <a:rPr lang="en-US" sz="1400" dirty="0"/>
              <a:t>Faster ordering </a:t>
            </a:r>
          </a:p>
          <a:p>
            <a:pPr marL="571500" lvl="1" indent="0" algn="l"/>
            <a:r>
              <a:rPr lang="en-US" sz="1400" dirty="0"/>
              <a:t>Fewer support requests </a:t>
            </a:r>
          </a:p>
          <a:p>
            <a:pPr marL="571500" lvl="1" indent="0" algn="l"/>
            <a:r>
              <a:rPr lang="en-US" sz="1400" dirty="0"/>
              <a:t>Higher customer satisfaction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78750" y="75450"/>
            <a:ext cx="8986500" cy="4992600"/>
          </a:xfrm>
          <a:prstGeom prst="rect">
            <a:avLst/>
          </a:prstGeom>
          <a:noFill/>
          <a:ln w="76200" cap="flat" cmpd="sng">
            <a:solidFill>
              <a:srgbClr val="0C71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311700" y="203250"/>
            <a:ext cx="8520600" cy="6145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Next Steps</a:t>
            </a:r>
            <a:endParaRPr i="1" dirty="0"/>
          </a:p>
        </p:txBody>
      </p:sp>
      <p:sp>
        <p:nvSpPr>
          <p:cNvPr id="2" name="Google Shape;88;p18">
            <a:extLst>
              <a:ext uri="{FF2B5EF4-FFF2-40B4-BE49-F238E27FC236}">
                <a16:creationId xmlns:a16="http://schemas.microsoft.com/office/drawing/2014/main" id="{7FE8C250-F681-CF9F-EB0D-9C3C76C11E02}"/>
              </a:ext>
            </a:extLst>
          </p:cNvPr>
          <p:cNvSpPr txBox="1">
            <a:spLocks/>
          </p:cNvSpPr>
          <p:nvPr/>
        </p:nvSpPr>
        <p:spPr>
          <a:xfrm>
            <a:off x="311700" y="817756"/>
            <a:ext cx="8520600" cy="40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600" b="1" dirty="0"/>
              <a:t>Supporting findings</a:t>
            </a:r>
          </a:p>
          <a:p>
            <a:pPr marL="571500" lvl="1" indent="0" algn="l"/>
            <a:r>
              <a:rPr lang="en-US" sz="1400" b="1" dirty="0"/>
              <a:t>54%</a:t>
            </a:r>
            <a:r>
              <a:rPr lang="en-US" sz="1400" dirty="0"/>
              <a:t> waited more than </a:t>
            </a:r>
            <a:r>
              <a:rPr lang="en-US" sz="1400" b="1" dirty="0"/>
              <a:t>15 minutes</a:t>
            </a:r>
            <a:r>
              <a:rPr lang="en-US" sz="1400" dirty="0"/>
              <a:t> for a table. </a:t>
            </a:r>
          </a:p>
          <a:p>
            <a:pPr marL="571500" lvl="1" indent="0" algn="l"/>
            <a:r>
              <a:rPr lang="en-US" sz="1400" b="1" dirty="0"/>
              <a:t>28%</a:t>
            </a:r>
            <a:r>
              <a:rPr lang="en-US" sz="1400" dirty="0"/>
              <a:t> experienced incorrect food orders. </a:t>
            </a:r>
          </a:p>
          <a:p>
            <a:pPr marL="571500" lvl="1" indent="0" algn="l"/>
            <a:r>
              <a:rPr lang="en-US" sz="1400" b="1" dirty="0"/>
              <a:t>30%</a:t>
            </a:r>
            <a:r>
              <a:rPr lang="en-US" sz="1400" dirty="0"/>
              <a:t> preferred a mix of tablet ordering and waiter interaction. </a:t>
            </a:r>
          </a:p>
          <a:p>
            <a:pPr marL="571500" lvl="1" indent="0" algn="l"/>
            <a:r>
              <a:rPr lang="en-US" sz="1400" dirty="0"/>
              <a:t>Comments requested the option to choose traditional waiter service. </a:t>
            </a:r>
          </a:p>
          <a:p>
            <a:pPr marL="571500" lvl="1" indent="0" algn="l"/>
            <a:endParaRPr lang="en-US" sz="1400" dirty="0"/>
          </a:p>
          <a:p>
            <a:pPr algn="l"/>
            <a:r>
              <a:rPr lang="en-US" sz="1600" b="1" dirty="0"/>
              <a:t>Recommendation</a:t>
            </a:r>
          </a:p>
          <a:p>
            <a:pPr marL="571500" lvl="1" indent="0" algn="l"/>
            <a:r>
              <a:rPr lang="en-US" sz="1400" dirty="0"/>
              <a:t>Reduce table wait times through improved scheduling. </a:t>
            </a:r>
          </a:p>
          <a:p>
            <a:pPr marL="571500" lvl="1" indent="0" algn="l"/>
            <a:r>
              <a:rPr lang="en-US" sz="1400" dirty="0"/>
              <a:t>Strengthen kitchen order verification. </a:t>
            </a:r>
          </a:p>
          <a:p>
            <a:pPr marL="571500" lvl="1" indent="0" algn="l"/>
            <a:r>
              <a:rPr lang="en-US" sz="1400" dirty="0"/>
              <a:t>Offer customers a choice between tablet-assisted and traditional waiter service. </a:t>
            </a:r>
          </a:p>
          <a:p>
            <a:pPr marL="571500" lvl="1" indent="0" algn="l"/>
            <a:endParaRPr lang="en-US" sz="1400" dirty="0"/>
          </a:p>
          <a:p>
            <a:pPr algn="l"/>
            <a:r>
              <a:rPr lang="en-US" sz="1600" b="1" dirty="0"/>
              <a:t>Expected Benefit</a:t>
            </a:r>
            <a:endParaRPr lang="en-US" sz="1600" dirty="0"/>
          </a:p>
          <a:p>
            <a:pPr marL="571500" lvl="1" indent="0" algn="l"/>
            <a:r>
              <a:rPr lang="en-US" sz="1400" dirty="0"/>
              <a:t>Improved customer satisfaction </a:t>
            </a:r>
          </a:p>
          <a:p>
            <a:pPr marL="571500" lvl="1" indent="0" algn="l"/>
            <a:r>
              <a:rPr lang="en-US" sz="1400" dirty="0"/>
              <a:t>Higher order accuracy </a:t>
            </a:r>
          </a:p>
          <a:p>
            <a:pPr marL="571500" lvl="1" indent="0" algn="l"/>
            <a:r>
              <a:rPr lang="en-US" sz="1400" dirty="0"/>
              <a:t>Greater flexibility for different customer preferences </a:t>
            </a:r>
          </a:p>
          <a:p>
            <a:pPr marL="571500" lvl="1" indent="0" algn="l"/>
            <a:r>
              <a:rPr lang="en-US" sz="1400" dirty="0"/>
              <a:t>Better readiness for a successful full-scale rollout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389</Words>
  <Application>Microsoft Office PowerPoint</Application>
  <PresentationFormat>On-screen Show (16:9)</PresentationFormat>
  <Paragraphs>58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Sauce &amp; Spoon Tabletop Menu Tablet  Pilot Project </vt:lpstr>
      <vt:lpstr>Summary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SUBHRAJYOTI BERA</cp:lastModifiedBy>
  <cp:revision>9</cp:revision>
  <dcterms:modified xsi:type="dcterms:W3CDTF">2026-07-23T18:02:48Z</dcterms:modified>
</cp:coreProperties>
</file>